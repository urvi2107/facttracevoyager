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c294f4ae1a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c294f4ae1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c294f4ae1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c294f4ae1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c294f4ae1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c294f4ae1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294f4ae1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294f4ae1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c294f4ae1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c294f4ae1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294f4ae1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294f4ae1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294f4ae1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c294f4ae1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295cf60ea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295cf60ea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t>The AI Truth Jury Challenge</a:t>
            </a:r>
            <a:endParaRPr b="1"/>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FactTrace</a:t>
            </a:r>
            <a:endParaRPr/>
          </a:p>
        </p:txBody>
      </p:sp>
      <p:sp>
        <p:nvSpPr>
          <p:cNvPr id="56" name="Google Shape;56;p13"/>
          <p:cNvSpPr txBox="1"/>
          <p:nvPr/>
        </p:nvSpPr>
        <p:spPr>
          <a:xfrm>
            <a:off x="2459325" y="3359250"/>
            <a:ext cx="4540200" cy="48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500">
                <a:solidFill>
                  <a:schemeClr val="dk2"/>
                </a:solidFill>
              </a:rPr>
              <a:t>Team Voyager: Lea, Sara, Nazanin, and Urvi</a:t>
            </a:r>
            <a:endParaRPr i="1" sz="15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rapid spread of information on social media has </a:t>
            </a:r>
            <a:r>
              <a:rPr b="1" lang="en"/>
              <a:t>increased</a:t>
            </a:r>
            <a:r>
              <a:rPr lang="en"/>
              <a:t> the </a:t>
            </a:r>
            <a:r>
              <a:rPr b="1" lang="en"/>
              <a:t>impact</a:t>
            </a:r>
            <a:r>
              <a:rPr lang="en"/>
              <a:t> of </a:t>
            </a:r>
            <a:r>
              <a:rPr b="1" lang="en"/>
              <a:t>false claims</a:t>
            </a:r>
            <a:r>
              <a:rPr lang="en"/>
              <a:t>. </a:t>
            </a:r>
            <a:endParaRPr/>
          </a:p>
          <a:p>
            <a:pPr indent="-342900" lvl="0" marL="457200" rtl="0" algn="l">
              <a:spcBef>
                <a:spcPts val="1000"/>
              </a:spcBef>
              <a:spcAft>
                <a:spcPts val="0"/>
              </a:spcAft>
              <a:buSzPts val="1800"/>
              <a:buChar char="-"/>
            </a:pPr>
            <a:r>
              <a:rPr lang="en"/>
              <a:t>Inspired by studies on online polarization, we model fact-checking as a structured debate between </a:t>
            </a:r>
            <a:r>
              <a:rPr b="1" lang="en"/>
              <a:t>two</a:t>
            </a:r>
            <a:r>
              <a:rPr lang="en"/>
              <a:t> </a:t>
            </a:r>
            <a:r>
              <a:rPr b="1" lang="en"/>
              <a:t>opposing</a:t>
            </a:r>
            <a:r>
              <a:rPr lang="en"/>
              <a:t> </a:t>
            </a:r>
            <a:r>
              <a:rPr b="1" lang="en"/>
              <a:t>agents</a:t>
            </a:r>
            <a:r>
              <a:rPr lang="en"/>
              <a:t>: one defending a claim and one challenging it using a reference truth. </a:t>
            </a:r>
            <a:endParaRPr/>
          </a:p>
          <a:p>
            <a:pPr indent="-342900" lvl="0" marL="457200" rtl="0" algn="l">
              <a:spcBef>
                <a:spcPts val="1000"/>
              </a:spcBef>
              <a:spcAft>
                <a:spcPts val="0"/>
              </a:spcAft>
              <a:buSzPts val="1800"/>
              <a:buChar char="-"/>
            </a:pPr>
            <a:r>
              <a:rPr lang="en"/>
              <a:t>A </a:t>
            </a:r>
            <a:r>
              <a:rPr b="1" lang="en"/>
              <a:t>neutral judge</a:t>
            </a:r>
            <a:r>
              <a:rPr lang="en"/>
              <a:t> then evaluates the debate and assesses claim accuracy across multiple dimensions allowing for nuanced, non-binary truth judgments.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124700" y="106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Agentic Model</a:t>
            </a:r>
            <a:endParaRPr/>
          </a:p>
        </p:txBody>
      </p:sp>
      <p:sp>
        <p:nvSpPr>
          <p:cNvPr id="68" name="Google Shape;68;p15"/>
          <p:cNvSpPr txBox="1"/>
          <p:nvPr>
            <p:ph idx="1" type="body"/>
          </p:nvPr>
        </p:nvSpPr>
        <p:spPr>
          <a:xfrm>
            <a:off x="276675" y="683552"/>
            <a:ext cx="3717000" cy="33111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u="sng"/>
              <a:t>The Baseline </a:t>
            </a:r>
            <a:r>
              <a:rPr lang="en" u="sng"/>
              <a:t>Model</a:t>
            </a:r>
            <a:endParaRPr u="sng"/>
          </a:p>
        </p:txBody>
      </p:sp>
      <p:pic>
        <p:nvPicPr>
          <p:cNvPr id="69" name="Google Shape;69;p15" title="Screenshot 2026-01-31 at 14.34.46.png"/>
          <p:cNvPicPr preferRelativeResize="0"/>
          <p:nvPr/>
        </p:nvPicPr>
        <p:blipFill>
          <a:blip r:embed="rId3">
            <a:alphaModFix/>
          </a:blip>
          <a:stretch>
            <a:fillRect/>
          </a:stretch>
        </p:blipFill>
        <p:spPr>
          <a:xfrm>
            <a:off x="1001146" y="1367509"/>
            <a:ext cx="2686550" cy="974600"/>
          </a:xfrm>
          <a:prstGeom prst="rect">
            <a:avLst/>
          </a:prstGeom>
          <a:noFill/>
          <a:ln>
            <a:noFill/>
          </a:ln>
        </p:spPr>
      </p:pic>
      <p:sp>
        <p:nvSpPr>
          <p:cNvPr id="70" name="Google Shape;70;p15"/>
          <p:cNvSpPr txBox="1"/>
          <p:nvPr/>
        </p:nvSpPr>
        <p:spPr>
          <a:xfrm>
            <a:off x="956696" y="2281319"/>
            <a:ext cx="1127700" cy="40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   Skeptic</a:t>
            </a:r>
            <a:endParaRPr sz="1500">
              <a:solidFill>
                <a:schemeClr val="dk2"/>
              </a:solidFill>
            </a:endParaRPr>
          </a:p>
        </p:txBody>
      </p:sp>
      <p:sp>
        <p:nvSpPr>
          <p:cNvPr id="71" name="Google Shape;71;p15"/>
          <p:cNvSpPr txBox="1"/>
          <p:nvPr/>
        </p:nvSpPr>
        <p:spPr>
          <a:xfrm>
            <a:off x="2596847" y="2288113"/>
            <a:ext cx="1127700" cy="40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   Defender</a:t>
            </a:r>
            <a:endParaRPr sz="1500">
              <a:solidFill>
                <a:schemeClr val="dk2"/>
              </a:solidFill>
            </a:endParaRPr>
          </a:p>
        </p:txBody>
      </p:sp>
      <p:sp>
        <p:nvSpPr>
          <p:cNvPr id="72" name="Google Shape;72;p15"/>
          <p:cNvSpPr/>
          <p:nvPr/>
        </p:nvSpPr>
        <p:spPr>
          <a:xfrm>
            <a:off x="1785521" y="2824833"/>
            <a:ext cx="937500" cy="88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500">
                <a:solidFill>
                  <a:srgbClr val="0B5394"/>
                </a:solidFill>
              </a:rPr>
              <a:t>?</a:t>
            </a:r>
            <a:endParaRPr sz="3500">
              <a:solidFill>
                <a:srgbClr val="0B5394"/>
              </a:solidFill>
            </a:endParaRPr>
          </a:p>
        </p:txBody>
      </p:sp>
      <p:sp>
        <p:nvSpPr>
          <p:cNvPr id="73" name="Google Shape;73;p15"/>
          <p:cNvSpPr txBox="1"/>
          <p:nvPr/>
        </p:nvSpPr>
        <p:spPr>
          <a:xfrm>
            <a:off x="1986032" y="3653686"/>
            <a:ext cx="618000" cy="3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Jury</a:t>
            </a:r>
            <a:endParaRPr sz="1500">
              <a:solidFill>
                <a:schemeClr val="dk2"/>
              </a:solidFill>
            </a:endParaRPr>
          </a:p>
        </p:txBody>
      </p:sp>
      <p:sp>
        <p:nvSpPr>
          <p:cNvPr id="74" name="Google Shape;74;p15"/>
          <p:cNvSpPr txBox="1"/>
          <p:nvPr/>
        </p:nvSpPr>
        <p:spPr>
          <a:xfrm>
            <a:off x="5120177" y="3762942"/>
            <a:ext cx="2621400" cy="662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2"/>
              </a:buClr>
              <a:buSzPts val="1400"/>
              <a:buChar char="-"/>
            </a:pPr>
            <a:r>
              <a:rPr lang="en">
                <a:solidFill>
                  <a:schemeClr val="dk2"/>
                </a:solidFill>
              </a:rPr>
              <a:t>Fact Checker</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Mediator</a:t>
            </a:r>
            <a:endParaRPr>
              <a:solidFill>
                <a:schemeClr val="dk2"/>
              </a:solidFill>
            </a:endParaRPr>
          </a:p>
        </p:txBody>
      </p:sp>
      <p:sp>
        <p:nvSpPr>
          <p:cNvPr id="75" name="Google Shape;75;p15"/>
          <p:cNvSpPr txBox="1"/>
          <p:nvPr/>
        </p:nvSpPr>
        <p:spPr>
          <a:xfrm>
            <a:off x="5193377" y="668501"/>
            <a:ext cx="2475000" cy="5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dk2"/>
                </a:solidFill>
              </a:rPr>
              <a:t>The Advanced Model</a:t>
            </a:r>
            <a:endParaRPr sz="1800" u="sng">
              <a:solidFill>
                <a:schemeClr val="dk2"/>
              </a:solidFill>
            </a:endParaRPr>
          </a:p>
        </p:txBody>
      </p:sp>
      <p:pic>
        <p:nvPicPr>
          <p:cNvPr id="76" name="Google Shape;76;p15" title="Screenshot 2026-01-31 at 14.34.46.png"/>
          <p:cNvPicPr preferRelativeResize="0"/>
          <p:nvPr/>
        </p:nvPicPr>
        <p:blipFill>
          <a:blip r:embed="rId3">
            <a:alphaModFix/>
          </a:blip>
          <a:stretch>
            <a:fillRect/>
          </a:stretch>
        </p:blipFill>
        <p:spPr>
          <a:xfrm>
            <a:off x="5091402" y="1406165"/>
            <a:ext cx="2686550" cy="974600"/>
          </a:xfrm>
          <a:prstGeom prst="rect">
            <a:avLst/>
          </a:prstGeom>
          <a:noFill/>
          <a:ln>
            <a:noFill/>
          </a:ln>
        </p:spPr>
      </p:pic>
      <p:sp>
        <p:nvSpPr>
          <p:cNvPr id="77" name="Google Shape;77;p15"/>
          <p:cNvSpPr txBox="1"/>
          <p:nvPr/>
        </p:nvSpPr>
        <p:spPr>
          <a:xfrm>
            <a:off x="5046952" y="2319975"/>
            <a:ext cx="1127700" cy="40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   Skeptic</a:t>
            </a:r>
            <a:endParaRPr sz="1500">
              <a:solidFill>
                <a:schemeClr val="dk2"/>
              </a:solidFill>
            </a:endParaRPr>
          </a:p>
        </p:txBody>
      </p:sp>
      <p:sp>
        <p:nvSpPr>
          <p:cNvPr id="78" name="Google Shape;78;p15"/>
          <p:cNvSpPr txBox="1"/>
          <p:nvPr/>
        </p:nvSpPr>
        <p:spPr>
          <a:xfrm>
            <a:off x="6687103" y="2326769"/>
            <a:ext cx="1127700" cy="40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   Defender</a:t>
            </a:r>
            <a:endParaRPr sz="1500">
              <a:solidFill>
                <a:schemeClr val="dk2"/>
              </a:solidFill>
            </a:endParaRPr>
          </a:p>
        </p:txBody>
      </p:sp>
      <p:sp>
        <p:nvSpPr>
          <p:cNvPr id="79" name="Google Shape;79;p15"/>
          <p:cNvSpPr txBox="1"/>
          <p:nvPr/>
        </p:nvSpPr>
        <p:spPr>
          <a:xfrm>
            <a:off x="1250475" y="4425350"/>
            <a:ext cx="2743200" cy="9747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dk2"/>
              </a:buClr>
              <a:buSzPts val="1300"/>
              <a:buChar char="●"/>
            </a:pPr>
            <a:r>
              <a:rPr lang="en" sz="1300">
                <a:solidFill>
                  <a:schemeClr val="dk2"/>
                </a:solidFill>
              </a:rPr>
              <a:t>Sentence segmenting</a:t>
            </a:r>
            <a:endParaRPr sz="1300">
              <a:solidFill>
                <a:schemeClr val="dk2"/>
              </a:solidFill>
            </a:endParaRPr>
          </a:p>
          <a:p>
            <a:pPr indent="-311150" lvl="0" marL="457200" rtl="0" algn="l">
              <a:lnSpc>
                <a:spcPct val="115000"/>
              </a:lnSpc>
              <a:spcBef>
                <a:spcPts val="0"/>
              </a:spcBef>
              <a:spcAft>
                <a:spcPts val="0"/>
              </a:spcAft>
              <a:buClr>
                <a:schemeClr val="dk2"/>
              </a:buClr>
              <a:buSzPts val="1300"/>
              <a:buChar char="●"/>
            </a:pPr>
            <a:r>
              <a:rPr lang="en" sz="1300">
                <a:solidFill>
                  <a:schemeClr val="dk2"/>
                </a:solidFill>
              </a:rPr>
              <a:t>Time limits</a:t>
            </a:r>
            <a:endParaRPr sz="1300">
              <a:solidFill>
                <a:schemeClr val="dk2"/>
              </a:solidFill>
            </a:endParaRPr>
          </a:p>
          <a:p>
            <a:pPr indent="-311150" lvl="0" marL="457200" rtl="0" algn="l">
              <a:lnSpc>
                <a:spcPct val="115000"/>
              </a:lnSpc>
              <a:spcBef>
                <a:spcPts val="0"/>
              </a:spcBef>
              <a:spcAft>
                <a:spcPts val="0"/>
              </a:spcAft>
              <a:buClr>
                <a:schemeClr val="dk2"/>
              </a:buClr>
              <a:buSzPts val="1300"/>
              <a:buChar char="●"/>
            </a:pPr>
            <a:r>
              <a:rPr lang="en" sz="1300">
                <a:solidFill>
                  <a:schemeClr val="dk2"/>
                </a:solidFill>
              </a:rPr>
              <a:t>Sentence limits (3-4)</a:t>
            </a:r>
            <a:endParaRPr sz="1300">
              <a:solidFill>
                <a:schemeClr val="dk2"/>
              </a:solidFill>
            </a:endParaRPr>
          </a:p>
        </p:txBody>
      </p:sp>
      <p:sp>
        <p:nvSpPr>
          <p:cNvPr id="80" name="Google Shape;80;p15"/>
          <p:cNvSpPr/>
          <p:nvPr/>
        </p:nvSpPr>
        <p:spPr>
          <a:xfrm>
            <a:off x="5749598" y="2597415"/>
            <a:ext cx="937500" cy="88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500">
                <a:solidFill>
                  <a:srgbClr val="0B5394"/>
                </a:solidFill>
              </a:rPr>
              <a:t>?</a:t>
            </a:r>
            <a:endParaRPr sz="3500">
              <a:solidFill>
                <a:srgbClr val="0B5394"/>
              </a:solidFill>
            </a:endParaRPr>
          </a:p>
        </p:txBody>
      </p:sp>
      <p:sp>
        <p:nvSpPr>
          <p:cNvPr id="81" name="Google Shape;81;p15"/>
          <p:cNvSpPr txBox="1"/>
          <p:nvPr/>
        </p:nvSpPr>
        <p:spPr>
          <a:xfrm>
            <a:off x="6479955" y="3235475"/>
            <a:ext cx="2020800" cy="3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rPr>
              <a:t>Jury - breaks down the meaning of “truth” </a:t>
            </a:r>
            <a:endParaRPr sz="1100">
              <a:solidFill>
                <a:schemeClr val="dk2"/>
              </a:solidFill>
            </a:endParaRPr>
          </a:p>
        </p:txBody>
      </p:sp>
      <p:sp>
        <p:nvSpPr>
          <p:cNvPr id="82" name="Google Shape;82;p15"/>
          <p:cNvSpPr txBox="1"/>
          <p:nvPr/>
        </p:nvSpPr>
        <p:spPr>
          <a:xfrm>
            <a:off x="5132475" y="4368600"/>
            <a:ext cx="2743200" cy="9747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dk2"/>
              </a:buClr>
              <a:buSzPts val="1300"/>
              <a:buChar char="●"/>
            </a:pPr>
            <a:r>
              <a:rPr lang="en" sz="1300">
                <a:solidFill>
                  <a:schemeClr val="dk2"/>
                </a:solidFill>
              </a:rPr>
              <a:t>Sentence segmenting</a:t>
            </a:r>
            <a:endParaRPr sz="1300">
              <a:solidFill>
                <a:schemeClr val="dk2"/>
              </a:solidFill>
            </a:endParaRPr>
          </a:p>
          <a:p>
            <a:pPr indent="-311150" lvl="0" marL="457200" rtl="0" algn="l">
              <a:lnSpc>
                <a:spcPct val="115000"/>
              </a:lnSpc>
              <a:spcBef>
                <a:spcPts val="0"/>
              </a:spcBef>
              <a:spcAft>
                <a:spcPts val="0"/>
              </a:spcAft>
              <a:buClr>
                <a:schemeClr val="dk2"/>
              </a:buClr>
              <a:buSzPts val="1300"/>
              <a:buChar char="●"/>
            </a:pPr>
            <a:r>
              <a:rPr lang="en" sz="1300">
                <a:solidFill>
                  <a:schemeClr val="dk2"/>
                </a:solidFill>
              </a:rPr>
              <a:t>Time limits</a:t>
            </a:r>
            <a:endParaRPr sz="1300">
              <a:solidFill>
                <a:schemeClr val="dk2"/>
              </a:solidFill>
            </a:endParaRPr>
          </a:p>
          <a:p>
            <a:pPr indent="-311150" lvl="0" marL="457200" rtl="0" algn="l">
              <a:lnSpc>
                <a:spcPct val="115000"/>
              </a:lnSpc>
              <a:spcBef>
                <a:spcPts val="0"/>
              </a:spcBef>
              <a:spcAft>
                <a:spcPts val="0"/>
              </a:spcAft>
              <a:buClr>
                <a:schemeClr val="dk2"/>
              </a:buClr>
              <a:buSzPts val="1300"/>
              <a:buChar char="●"/>
            </a:pPr>
            <a:r>
              <a:rPr lang="en" sz="1300">
                <a:solidFill>
                  <a:schemeClr val="dk2"/>
                </a:solidFill>
              </a:rPr>
              <a:t>Sentence limits (3-4)</a:t>
            </a:r>
            <a:endParaRPr sz="1300">
              <a:solidFill>
                <a:schemeClr val="dk2"/>
              </a:solidFill>
            </a:endParaRPr>
          </a:p>
          <a:p>
            <a:pPr indent="0" lvl="0" marL="457200" rtl="0" algn="l">
              <a:lnSpc>
                <a:spcPct val="115000"/>
              </a:lnSpc>
              <a:spcBef>
                <a:spcPts val="1200"/>
              </a:spcBef>
              <a:spcAft>
                <a:spcPts val="1200"/>
              </a:spcAft>
              <a:buNone/>
            </a:pPr>
            <a:r>
              <a:t/>
            </a:r>
            <a:endParaRPr sz="13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Agentic Personalities</a:t>
            </a:r>
            <a:endParaRPr/>
          </a:p>
        </p:txBody>
      </p:sp>
      <p:sp>
        <p:nvSpPr>
          <p:cNvPr id="88" name="Google Shape;88;p16"/>
          <p:cNvSpPr/>
          <p:nvPr/>
        </p:nvSpPr>
        <p:spPr>
          <a:xfrm>
            <a:off x="543625" y="1254500"/>
            <a:ext cx="7872000" cy="16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600"/>
              <a:t>Basic prompt, 2 - 3 sentences</a:t>
            </a:r>
            <a:endParaRPr b="1" i="1" sz="1600"/>
          </a:p>
          <a:p>
            <a:pPr indent="0" lvl="0" marL="0" rtl="0" algn="ctr">
              <a:spcBef>
                <a:spcPts val="0"/>
              </a:spcBef>
              <a:spcAft>
                <a:spcPts val="0"/>
              </a:spcAft>
              <a:buNone/>
            </a:pPr>
            <a:br>
              <a:rPr lang="en"/>
            </a:br>
            <a:r>
              <a:rPr lang="en"/>
              <a:t>Sceptic: You find problems with claims. Look for exaggeration, missing context, or misleading framing. Quote specific parts.</a:t>
            </a:r>
            <a:endParaRPr/>
          </a:p>
        </p:txBody>
      </p:sp>
      <p:sp>
        <p:nvSpPr>
          <p:cNvPr id="89" name="Google Shape;89;p16"/>
          <p:cNvSpPr/>
          <p:nvPr/>
        </p:nvSpPr>
        <p:spPr>
          <a:xfrm>
            <a:off x="543625" y="3174275"/>
            <a:ext cx="7872000" cy="168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600">
                <a:solidFill>
                  <a:schemeClr val="dk1"/>
                </a:solidFill>
              </a:rPr>
              <a:t>More complex prompt, richer personalities</a:t>
            </a:r>
            <a:endParaRPr b="1" i="1" sz="1600">
              <a:solidFill>
                <a:schemeClr val="dk1"/>
              </a:solidFill>
            </a:endParaRPr>
          </a:p>
          <a:p>
            <a:pPr indent="0" lvl="0" marL="0" rtl="0" algn="ctr">
              <a:spcBef>
                <a:spcPts val="0"/>
              </a:spcBef>
              <a:spcAft>
                <a:spcPts val="0"/>
              </a:spcAft>
              <a:buNone/>
            </a:pPr>
            <a:r>
              <a:t/>
            </a:r>
            <a:endParaRPr b="1" i="1" sz="1600">
              <a:solidFill>
                <a:schemeClr val="dk1"/>
              </a:solidFill>
            </a:endParaRPr>
          </a:p>
          <a:p>
            <a:pPr indent="0" lvl="0" marL="0" rtl="0" algn="ctr">
              <a:spcBef>
                <a:spcPts val="0"/>
              </a:spcBef>
              <a:spcAft>
                <a:spcPts val="0"/>
              </a:spcAft>
              <a:buNone/>
            </a:pPr>
            <a:r>
              <a:rPr lang="en" sz="1600">
                <a:solidFill>
                  <a:schemeClr val="dk1"/>
                </a:solidFill>
              </a:rPr>
              <a:t>You are a ruthless prosecutor in a courtroom. Your job is to tear this claim apart.</a:t>
            </a:r>
            <a:endParaRPr sz="1600">
              <a:solidFill>
                <a:schemeClr val="dk1"/>
              </a:solidFill>
            </a:endParaRPr>
          </a:p>
          <a:p>
            <a:pPr indent="0" lvl="0" marL="0" rtl="0" algn="ctr">
              <a:spcBef>
                <a:spcPts val="0"/>
              </a:spcBef>
              <a:spcAft>
                <a:spcPts val="0"/>
              </a:spcAft>
              <a:buClr>
                <a:schemeClr val="dk1"/>
              </a:buClr>
              <a:buSzPts val="1100"/>
              <a:buFont typeface="Arial"/>
              <a:buNone/>
            </a:pPr>
            <a:r>
              <a:rPr lang="en" sz="1600">
                <a:solidFill>
                  <a:schemeClr val="dk1"/>
                </a:solidFill>
              </a:rPr>
              <a:t>You speak with conviction and authority. You point fingers.</a:t>
            </a:r>
            <a:br>
              <a:rPr lang="en" sz="1600">
                <a:solidFill>
                  <a:schemeClr val="dk1"/>
                </a:solidFill>
              </a:rPr>
            </a:br>
            <a:r>
              <a:rPr lang="en" sz="1600">
                <a:solidFill>
                  <a:schemeClr val="dk1"/>
                </a:solidFill>
              </a:rPr>
              <a:t>Instructions: Hunt for counter-evidence that destroys the claim</a:t>
            </a:r>
            <a:br>
              <a:rPr lang="en" sz="1600">
                <a:solidFill>
                  <a:schemeClr val="dk1"/>
                </a:solidFill>
              </a:rPr>
            </a:br>
            <a:r>
              <a:rPr lang="en" sz="1600">
                <a:solidFill>
                  <a:schemeClr val="dk1"/>
                </a:solidFill>
              </a:rPr>
              <a:t>Rules: Never concede a point. Never praise the claim.</a:t>
            </a:r>
            <a:endParaRPr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Debate: baseline Model </a:t>
            </a:r>
            <a:endParaRPr/>
          </a:p>
        </p:txBody>
      </p:sp>
      <p:pic>
        <p:nvPicPr>
          <p:cNvPr descr="a yellow lightning bolt with a white background (Provided by Tenor)" id="95" name="Google Shape;95;p17"/>
          <p:cNvPicPr preferRelativeResize="0"/>
          <p:nvPr/>
        </p:nvPicPr>
        <p:blipFill>
          <a:blip r:embed="rId3">
            <a:alphaModFix/>
          </a:blip>
          <a:stretch>
            <a:fillRect/>
          </a:stretch>
        </p:blipFill>
        <p:spPr>
          <a:xfrm>
            <a:off x="4572000" y="310275"/>
            <a:ext cx="607238" cy="707450"/>
          </a:xfrm>
          <a:prstGeom prst="rect">
            <a:avLst/>
          </a:prstGeom>
          <a:noFill/>
          <a:ln>
            <a:noFill/>
          </a:ln>
        </p:spPr>
      </p:pic>
      <p:sp>
        <p:nvSpPr>
          <p:cNvPr id="96" name="Google Shape;96;p17"/>
          <p:cNvSpPr/>
          <p:nvPr/>
        </p:nvSpPr>
        <p:spPr>
          <a:xfrm>
            <a:off x="496600" y="1975575"/>
            <a:ext cx="3889500" cy="298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457200" lvl="0" marL="914400" rtl="0" algn="l">
              <a:lnSpc>
                <a:spcPct val="115000"/>
              </a:lnSpc>
              <a:spcBef>
                <a:spcPts val="0"/>
              </a:spcBef>
              <a:spcAft>
                <a:spcPts val="0"/>
              </a:spcAft>
              <a:buNone/>
            </a:pPr>
            <a:r>
              <a:rPr b="1" i="1" lang="en" sz="1900">
                <a:solidFill>
                  <a:schemeClr val="dk1"/>
                </a:solidFill>
              </a:rPr>
              <a:t>SCEPTIC</a:t>
            </a:r>
            <a:endParaRPr b="1" i="1" sz="1900">
              <a:solidFill>
                <a:schemeClr val="dk1"/>
              </a:solidFill>
            </a:endParaRPr>
          </a:p>
          <a:p>
            <a:pPr indent="0" lvl="0" marL="0" rtl="0" algn="l">
              <a:lnSpc>
                <a:spcPct val="115000"/>
              </a:lnSpc>
              <a:spcBef>
                <a:spcPts val="0"/>
              </a:spcBef>
              <a:spcAft>
                <a:spcPts val="0"/>
              </a:spcAft>
              <a:buNone/>
            </a:pPr>
            <a:r>
              <a:rPr lang="en" sz="1900">
                <a:solidFill>
                  <a:schemeClr val="dk1"/>
                </a:solidFill>
              </a:rPr>
              <a:t>This is a textbook case of cherry-picking that ignores the FDA’s Emergency Use Authorization in early 2020, conflating temporary emergency measures with outright illegality…</a:t>
            </a:r>
            <a:endParaRPr sz="2200"/>
          </a:p>
        </p:txBody>
      </p:sp>
      <p:sp>
        <p:nvSpPr>
          <p:cNvPr id="97" name="Google Shape;97;p17"/>
          <p:cNvSpPr/>
          <p:nvPr/>
        </p:nvSpPr>
        <p:spPr>
          <a:xfrm>
            <a:off x="636000" y="1017713"/>
            <a:ext cx="7872000" cy="81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 FACT:</a:t>
            </a:r>
            <a:endParaRPr sz="1200"/>
          </a:p>
          <a:p>
            <a:pPr indent="0" lvl="0" marL="0" rtl="0" algn="ctr">
              <a:spcBef>
                <a:spcPts val="0"/>
              </a:spcBef>
              <a:spcAft>
                <a:spcPts val="0"/>
              </a:spcAft>
              <a:buNone/>
            </a:pPr>
            <a:r>
              <a:rPr lang="en" sz="1200"/>
              <a:t>“</a:t>
            </a:r>
            <a:r>
              <a:rPr i="1" lang="en" sz="1200"/>
              <a:t>During the 2020 coronavirus pandemic in the US , a study proving the effectivity hydroxychloroquine to treat this virus was done in a non-randomized group and published on YouTube instead of a peer-reviewed journal.</a:t>
            </a:r>
            <a:r>
              <a:rPr lang="en" sz="1200"/>
              <a:t>”</a:t>
            </a:r>
            <a:endParaRPr sz="1500"/>
          </a:p>
        </p:txBody>
      </p:sp>
      <p:sp>
        <p:nvSpPr>
          <p:cNvPr id="98" name="Google Shape;98;p17"/>
          <p:cNvSpPr/>
          <p:nvPr/>
        </p:nvSpPr>
        <p:spPr>
          <a:xfrm>
            <a:off x="4618500" y="1975575"/>
            <a:ext cx="3889500" cy="298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457200" lvl="0" marL="457200" rtl="0" algn="l">
              <a:lnSpc>
                <a:spcPct val="115000"/>
              </a:lnSpc>
              <a:spcBef>
                <a:spcPts val="0"/>
              </a:spcBef>
              <a:spcAft>
                <a:spcPts val="0"/>
              </a:spcAft>
              <a:buNone/>
            </a:pPr>
            <a:r>
              <a:rPr b="1" i="1" lang="en" sz="1900">
                <a:solidFill>
                  <a:schemeClr val="dk1"/>
                </a:solidFill>
              </a:rPr>
              <a:t>DEFENDER</a:t>
            </a:r>
            <a:endParaRPr b="1" i="1" sz="1900">
              <a:solidFill>
                <a:schemeClr val="dk1"/>
              </a:solidFill>
            </a:endParaRPr>
          </a:p>
          <a:p>
            <a:pPr indent="0" lvl="0" marL="0" rtl="0" algn="l">
              <a:lnSpc>
                <a:spcPct val="115000"/>
              </a:lnSpc>
              <a:spcBef>
                <a:spcPts val="0"/>
              </a:spcBef>
              <a:spcAft>
                <a:spcPts val="0"/>
              </a:spcAft>
              <a:buNone/>
            </a:pPr>
            <a:r>
              <a:rPr lang="en" sz="1900">
                <a:solidFill>
                  <a:schemeClr val="dk1"/>
                </a:solidFill>
              </a:rPr>
              <a:t>Ladies and gentlemen of the jury, fixating on Emergency Use Authorizations misses the forest for the trees: hydroxychloroquine was never proven safe and effective through rigorous, peer-reviewed science…</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Debate: </a:t>
            </a:r>
            <a:r>
              <a:rPr lang="en"/>
              <a:t>Advanced Model</a:t>
            </a:r>
            <a:endParaRPr/>
          </a:p>
        </p:txBody>
      </p:sp>
      <p:sp>
        <p:nvSpPr>
          <p:cNvPr id="104" name="Google Shape;104;p18"/>
          <p:cNvSpPr/>
          <p:nvPr/>
        </p:nvSpPr>
        <p:spPr>
          <a:xfrm>
            <a:off x="473075" y="1399375"/>
            <a:ext cx="4098900" cy="3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i="1" lang="en" sz="1900">
                <a:solidFill>
                  <a:schemeClr val="dk1"/>
                </a:solidFill>
              </a:rPr>
              <a:t>FACT CHECKER INTERVENTION</a:t>
            </a:r>
            <a:endParaRPr b="1" i="1" sz="1900">
              <a:solidFill>
                <a:schemeClr val="dk1"/>
              </a:solidFill>
            </a:endParaRPr>
          </a:p>
          <a:p>
            <a:pPr indent="0" lvl="0" marL="0" rtl="0" algn="ctr">
              <a:lnSpc>
                <a:spcPct val="115000"/>
              </a:lnSpc>
              <a:spcBef>
                <a:spcPts val="0"/>
              </a:spcBef>
              <a:spcAft>
                <a:spcPts val="0"/>
              </a:spcAft>
              <a:buNone/>
            </a:pPr>
            <a:r>
              <a:rPr lang="en" sz="1900">
                <a:solidFill>
                  <a:schemeClr val="dk1"/>
                </a:solidFill>
              </a:rPr>
              <a:t>Both sides are partially correct, but the Claim overstates legal implications by ignoring rapidly evolving FDA actions, while the Sceptic overstates later developments as contradicting the early context…</a:t>
            </a:r>
            <a:endParaRPr sz="2200"/>
          </a:p>
        </p:txBody>
      </p:sp>
      <p:sp>
        <p:nvSpPr>
          <p:cNvPr id="105" name="Google Shape;105;p18"/>
          <p:cNvSpPr/>
          <p:nvPr/>
        </p:nvSpPr>
        <p:spPr>
          <a:xfrm>
            <a:off x="4788275" y="1399375"/>
            <a:ext cx="4098900" cy="3492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i="1" lang="en" sz="1900">
                <a:solidFill>
                  <a:schemeClr val="dk1"/>
                </a:solidFill>
              </a:rPr>
              <a:t>MEDIATOR SYNTHESIS</a:t>
            </a:r>
            <a:endParaRPr b="1" i="1" sz="1900">
              <a:solidFill>
                <a:schemeClr val="dk1"/>
              </a:solidFill>
            </a:endParaRPr>
          </a:p>
          <a:p>
            <a:pPr indent="0" lvl="0" marL="0" rtl="0" algn="ctr">
              <a:lnSpc>
                <a:spcPct val="115000"/>
              </a:lnSpc>
              <a:spcBef>
                <a:spcPts val="0"/>
              </a:spcBef>
              <a:spcAft>
                <a:spcPts val="0"/>
              </a:spcAft>
              <a:buNone/>
            </a:pPr>
            <a:r>
              <a:rPr lang="en" sz="1900">
                <a:solidFill>
                  <a:schemeClr val="dk1"/>
                </a:solidFill>
              </a:rPr>
              <a:t>A fair assessment acknowledges early uncertainty while noting that the Claim cherry-picks that moment to imply illegality, ignoring how FDA status and scientific understanding rapidly progressed thereafter</a:t>
            </a:r>
            <a:endParaRPr sz="2200"/>
          </a:p>
        </p:txBody>
      </p:sp>
      <p:pic>
        <p:nvPicPr>
          <p:cNvPr descr="a yellow lightning bolt with a white background (Provided by Tenor)" id="106" name="Google Shape;106;p18"/>
          <p:cNvPicPr preferRelativeResize="0"/>
          <p:nvPr/>
        </p:nvPicPr>
        <p:blipFill>
          <a:blip r:embed="rId3">
            <a:alphaModFix/>
          </a:blip>
          <a:stretch>
            <a:fillRect/>
          </a:stretch>
        </p:blipFill>
        <p:spPr>
          <a:xfrm>
            <a:off x="4788275" y="377650"/>
            <a:ext cx="607238" cy="707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Jury</a:t>
            </a:r>
            <a:endParaRPr/>
          </a:p>
        </p:txBody>
      </p:sp>
      <p:sp>
        <p:nvSpPr>
          <p:cNvPr id="112" name="Google Shape;112;p19"/>
          <p:cNvSpPr/>
          <p:nvPr/>
        </p:nvSpPr>
        <p:spPr>
          <a:xfrm>
            <a:off x="481975" y="1177850"/>
            <a:ext cx="8043600" cy="3549300"/>
          </a:xfrm>
          <a:prstGeom prst="rect">
            <a:avLst/>
          </a:prstGeom>
          <a:solidFill>
            <a:schemeClr val="lt2"/>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en"/>
              <a:t>FACTUAL CORRECTNESS: 85%</a:t>
            </a:r>
            <a:r>
              <a:rPr lang="en"/>
              <a:t> - The Claim accurately states early March conditions: no FDA approval for hydroxychloroquine’s safety/effectiveness and the initial study published on YouTube was non-randomized, but it overstates the legal implications of this status.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i="1" lang="en"/>
              <a:t>TEMPORAL ACCURACY: 80%</a:t>
            </a:r>
            <a:r>
              <a:rPr lang="en"/>
              <a:t> - The Claim correctly situates events in early March 2020 but blurs the rapid evolution of FDA authorizations later that month, missing important timeline nuance.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i="1" lang="en"/>
              <a:t>COMPLETENESS: 65%</a:t>
            </a:r>
            <a:r>
              <a:rPr lang="en"/>
              <a:t> - The Claim omits critical subsequent FDA emergency use authorizations and evolving scientific evidence, leading to a misleading impression of an ongoing legal violation rather than a transient early status.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i="1" lang="en"/>
              <a:t>OVERALL VERDICT:</a:t>
            </a:r>
            <a:r>
              <a:rPr lang="en"/>
              <a:t> </a:t>
            </a:r>
            <a:r>
              <a:rPr i="1" lang="en" u="sng">
                <a:solidFill>
                  <a:srgbClr val="FF9900"/>
                </a:solidFill>
              </a:rPr>
              <a:t>PARTIALLY FAITHFUL</a:t>
            </a:r>
            <a:r>
              <a:rPr lang="en"/>
              <a:t> </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 </a:t>
            </a:r>
            <a:endParaRPr/>
          </a:p>
        </p:txBody>
      </p:sp>
      <p:sp>
        <p:nvSpPr>
          <p:cNvPr id="118" name="Google Shape;118;p20"/>
          <p:cNvSpPr txBox="1"/>
          <p:nvPr>
            <p:ph idx="1" type="body"/>
          </p:nvPr>
        </p:nvSpPr>
        <p:spPr>
          <a:xfrm>
            <a:off x="311700" y="1145675"/>
            <a:ext cx="85206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Starting with two polarized agents creates “fake” debates just to prove a point</a:t>
            </a:r>
            <a:endParaRPr sz="1400"/>
          </a:p>
          <a:p>
            <a:pPr indent="-317500" lvl="1" marL="914400" rtl="0" algn="l">
              <a:spcBef>
                <a:spcPts val="0"/>
              </a:spcBef>
              <a:spcAft>
                <a:spcPts val="0"/>
              </a:spcAft>
              <a:buSzPts val="1400"/>
              <a:buChar char="-"/>
            </a:pPr>
            <a:r>
              <a:rPr lang="en"/>
              <a:t>We need to add mitigators and fact checkers to ensure fairness</a:t>
            </a:r>
            <a:endParaRPr/>
          </a:p>
          <a:p>
            <a:pPr indent="-317500" lvl="0" marL="457200" rtl="0" algn="l">
              <a:spcBef>
                <a:spcPts val="0"/>
              </a:spcBef>
              <a:spcAft>
                <a:spcPts val="0"/>
              </a:spcAft>
              <a:buSzPts val="1400"/>
              <a:buChar char="-"/>
            </a:pPr>
            <a:r>
              <a:rPr lang="en" sz="1400"/>
              <a:t>Sentence segmenting is more useful for shorter statements</a:t>
            </a:r>
            <a:endParaRPr sz="1400"/>
          </a:p>
          <a:p>
            <a:pPr indent="-317500" lvl="0" marL="457200" rtl="0" algn="l">
              <a:spcBef>
                <a:spcPts val="0"/>
              </a:spcBef>
              <a:spcAft>
                <a:spcPts val="0"/>
              </a:spcAft>
              <a:buSzPts val="1400"/>
              <a:buChar char="-"/>
            </a:pPr>
            <a:r>
              <a:rPr lang="en" sz="1400"/>
              <a:t>We need to choose what kind of “truth” we are looking at</a:t>
            </a:r>
            <a:endParaRPr sz="1400"/>
          </a:p>
          <a:p>
            <a:pPr indent="0" lvl="0" marL="0" rtl="0" algn="l">
              <a:lnSpc>
                <a:spcPct val="100000"/>
              </a:lnSpc>
              <a:spcBef>
                <a:spcPts val="1200"/>
              </a:spcBef>
              <a:spcAft>
                <a:spcPts val="0"/>
              </a:spcAft>
              <a:buNone/>
            </a:pPr>
            <a:r>
              <a:rPr lang="en" sz="2500">
                <a:solidFill>
                  <a:schemeClr val="dk1"/>
                </a:solidFill>
              </a:rPr>
              <a:t> Further Improvements</a:t>
            </a:r>
            <a:endParaRPr sz="2500">
              <a:solidFill>
                <a:schemeClr val="dk1"/>
              </a:solidFill>
            </a:endParaRPr>
          </a:p>
          <a:p>
            <a:pPr indent="0" lvl="0" marL="0" rtl="0" algn="l">
              <a:lnSpc>
                <a:spcPct val="100000"/>
              </a:lnSpc>
              <a:spcBef>
                <a:spcPts val="0"/>
              </a:spcBef>
              <a:spcAft>
                <a:spcPts val="0"/>
              </a:spcAft>
              <a:buNone/>
            </a:pPr>
            <a:r>
              <a:t/>
            </a:r>
            <a:endParaRPr sz="1400">
              <a:solidFill>
                <a:schemeClr val="dk1"/>
              </a:solidFill>
            </a:endParaRPr>
          </a:p>
          <a:p>
            <a:pPr indent="-317500" lvl="0" marL="457200" rtl="0" algn="l">
              <a:spcBef>
                <a:spcPts val="0"/>
              </a:spcBef>
              <a:spcAft>
                <a:spcPts val="0"/>
              </a:spcAft>
              <a:buSzPts val="1400"/>
              <a:buChar char="-"/>
            </a:pPr>
            <a:r>
              <a:rPr lang="en" sz="1400"/>
              <a:t>We can give user the option to define what they expect by truth and add weightings on each criterion e.g. preservation of level of detail, conveying the intended mindset etc, in the frontend which could be fed into the settings of the model arriving at different conclusions and confidence scores given different settings</a:t>
            </a:r>
            <a:endParaRPr sz="1400"/>
          </a:p>
          <a:p>
            <a:pPr indent="-317500" lvl="0" marL="457200" rtl="0" algn="l">
              <a:spcBef>
                <a:spcPts val="0"/>
              </a:spcBef>
              <a:spcAft>
                <a:spcPts val="0"/>
              </a:spcAft>
              <a:buSzPts val="1400"/>
              <a:buChar char="-"/>
            </a:pPr>
            <a:r>
              <a:rPr lang="en" sz="1400"/>
              <a:t>We can give the user the option to choose different personalities from a wider pool of agents and to pit them against each other</a:t>
            </a:r>
            <a:endParaRPr sz="1400"/>
          </a:p>
          <a:p>
            <a:pPr indent="-317500" lvl="0" marL="457200" rtl="0" algn="l">
              <a:spcBef>
                <a:spcPts val="0"/>
              </a:spcBef>
              <a:spcAft>
                <a:spcPts val="0"/>
              </a:spcAft>
              <a:buSzPts val="1400"/>
              <a:buChar char="-"/>
            </a:pPr>
            <a:r>
              <a:rPr lang="en" sz="1400"/>
              <a:t>We can give the user the option to customise their own personality and add it to the pool of agents</a:t>
            </a:r>
            <a:endParaRPr sz="1400"/>
          </a:p>
          <a:p>
            <a:pPr indent="-317500" lvl="0" marL="457200" rtl="0" algn="l">
              <a:spcBef>
                <a:spcPts val="0"/>
              </a:spcBef>
              <a:spcAft>
                <a:spcPts val="0"/>
              </a:spcAft>
              <a:buSzPts val="1400"/>
              <a:buChar char="-"/>
            </a:pPr>
            <a:r>
              <a:rPr lang="en" sz="1400"/>
              <a:t>We can make the number of debate rounds customisable</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4" name="Google Shape;12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5" name="Google Shape;125;p21" title="Screenshot 2026-01-31 at 15.19.20.png"/>
          <p:cNvPicPr preferRelativeResize="0"/>
          <p:nvPr/>
        </p:nvPicPr>
        <p:blipFill rotWithShape="1">
          <a:blip r:embed="rId3">
            <a:alphaModFix/>
          </a:blip>
          <a:srcRect b="1166" l="7621" r="12988" t="0"/>
          <a:stretch/>
        </p:blipFill>
        <p:spPr>
          <a:xfrm>
            <a:off x="46750" y="-40525"/>
            <a:ext cx="4123197" cy="5203076"/>
          </a:xfrm>
          <a:prstGeom prst="rect">
            <a:avLst/>
          </a:prstGeom>
          <a:noFill/>
          <a:ln>
            <a:noFill/>
          </a:ln>
        </p:spPr>
      </p:pic>
      <p:pic>
        <p:nvPicPr>
          <p:cNvPr id="126" name="Google Shape;126;p21" title="Screenshot 2026-01-31 at 15.19.51.png"/>
          <p:cNvPicPr preferRelativeResize="0"/>
          <p:nvPr/>
        </p:nvPicPr>
        <p:blipFill rotWithShape="1">
          <a:blip r:embed="rId4">
            <a:alphaModFix/>
          </a:blip>
          <a:srcRect b="0" l="3134" r="6783" t="0"/>
          <a:stretch/>
        </p:blipFill>
        <p:spPr>
          <a:xfrm>
            <a:off x="4295075" y="27142"/>
            <a:ext cx="4672751" cy="50540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